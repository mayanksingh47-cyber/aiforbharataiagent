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2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Mayank" userId="f70e05c4-d1e6-4981-b23a-f805195d2370" providerId="ADAL" clId="{AEEBCD1B-9729-4157-872B-2A89D19C2D8F}"/>
    <pc:docChg chg="modSld">
      <pc:chgData name="Kumar, Mayank" userId="f70e05c4-d1e6-4981-b23a-f805195d2370" providerId="ADAL" clId="{AEEBCD1B-9729-4157-872B-2A89D19C2D8F}" dt="2026-01-31T15:08:21.711" v="14" actId="20577"/>
      <pc:docMkLst>
        <pc:docMk/>
      </pc:docMkLst>
      <pc:sldChg chg="modSp mod">
        <pc:chgData name="Kumar, Mayank" userId="f70e05c4-d1e6-4981-b23a-f805195d2370" providerId="ADAL" clId="{AEEBCD1B-9729-4157-872B-2A89D19C2D8F}" dt="2026-01-31T15:08:21.711" v="14" actId="20577"/>
        <pc:sldMkLst>
          <pc:docMk/>
          <pc:sldMk cId="0" sldId="259"/>
        </pc:sldMkLst>
        <pc:spChg chg="mod">
          <ac:chgData name="Kumar, Mayank" userId="f70e05c4-d1e6-4981-b23a-f805195d2370" providerId="ADAL" clId="{AEEBCD1B-9729-4157-872B-2A89D19C2D8F}" dt="2026-01-31T15:08:21.711" v="14" actId="20577"/>
          <ac:spMkLst>
            <pc:docMk/>
            <pc:sldMk cId="0" sldId="259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E6B3"/>
                </a:solidFill>
              </a:defRPr>
            </a:pPr>
            <a:r>
              <a:t>Idea Submission</a:t>
            </a:r>
          </a:p>
          <a:p>
            <a:pPr>
              <a:spcBef>
                <a:spcPts val="600"/>
              </a:spcBef>
              <a:defRPr sz="3400" b="1">
                <a:solidFill>
                  <a:srgbClr val="FFFFFF"/>
                </a:solidFill>
              </a:defRPr>
            </a:pPr>
            <a:r>
              <a:t>AWS AI for Bharat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AgriNexus AI</a:t>
            </a:r>
          </a:p>
          <a:p>
            <a:pPr>
              <a:spcBef>
                <a:spcPts val="400"/>
              </a:spcBef>
              <a:defRPr sz="1500">
                <a:solidFill>
                  <a:srgbClr val="E2E8F0"/>
                </a:solidFill>
              </a:defRPr>
            </a:pPr>
            <a:r>
              <a:t>Intelligence for Rural &amp; Sustainable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530352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490118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5C2E"/>
                </a:solidFill>
              </a:defRPr>
            </a:pPr>
            <a:r>
              <a:t>Code Alchemists</a:t>
            </a:r>
          </a:p>
          <a:p>
            <a:pPr>
              <a:spcBef>
                <a:spcPts val="600"/>
              </a:spcBef>
              <a:defRPr sz="1300">
                <a:solidFill>
                  <a:srgbClr val="475669"/>
                </a:solidFill>
              </a:defRPr>
            </a:pPr>
            <a:r>
              <a:t>Mayank Kumar  •  Sneha Dalvi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7055" y="32004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669"/>
                </a:solidFill>
              </a:defRPr>
            </a:pPr>
            <a:r>
              <a:t>Track: AI for Rural Innovation &amp; Sustainable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Track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Track: AI for Rural Innovation &amp; Sustainable Systems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Indian agriculture faces information asymmetry, climate risk, and weak market linkage.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Farmers and agri-stakeholders need actionable, language-inclusive, real-time intelligence—not just data.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Decision-making is hampered by: fragmented weather/market data, language barriers, and lack of AI-driven advisory that users can act on (save, remind, alert).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Solution Overview — AgriNexus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AgriNexus AI is an enterprise-grade AI platform that enhances decision-making, efficiency, and sustainability across rural and agri-value chains.</a:t>
            </a:r>
          </a:p>
          <a:p>
            <a:pPr>
              <a:spcAft>
                <a:spcPts val="200"/>
              </a:spcAft>
              <a:defRPr sz="1200">
                <a:solidFill>
                  <a:srgbClr val="475669"/>
                </a:solidFill>
              </a:defRPr>
            </a:pPr>
            <a:r>
              <a:t>    • AI-driven insights (Groq-powered LLM, Llama 3.3 70B)</a:t>
            </a:r>
          </a:p>
          <a:p>
            <a:pPr>
              <a:spcAft>
                <a:spcPts val="200"/>
              </a:spcAft>
              <a:defRPr sz="1200">
                <a:solidFill>
                  <a:srgbClr val="475669"/>
                </a:solidFill>
              </a:defRPr>
            </a:pPr>
            <a:r>
              <a:t>    • Agentic workflows (multi-step reasoning, tool use: Weather, Market, MSP)</a:t>
            </a:r>
          </a:p>
          <a:p>
            <a:pPr>
              <a:spcAft>
                <a:spcPts val="200"/>
              </a:spcAft>
              <a:defRPr sz="1200">
                <a:solidFill>
                  <a:srgbClr val="475669"/>
                </a:solidFill>
              </a:defRPr>
            </a:pPr>
            <a:r>
              <a:t>    • Real-time intelligence (weather, mandi prices, MSP 2024–25)</a:t>
            </a:r>
          </a:p>
          <a:p>
            <a:pPr>
              <a:spcAft>
                <a:spcPts val="200"/>
              </a:spcAft>
              <a:defRPr sz="1200">
                <a:solidFill>
                  <a:srgbClr val="475669"/>
                </a:solidFill>
              </a:defRPr>
            </a:pPr>
            <a:r>
              <a:t>    • Realistic user actions (save to plan, set reminders, alerts) so users act on advice.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Combines: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015" y="1417320"/>
            <a:ext cx="2606040" cy="1600200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1743" y="1581912"/>
            <a:ext cx="155760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/>
              <a:t>Unlimited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1743" y="2075688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Farmers Reached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743" y="2468880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This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9223" y="1417320"/>
            <a:ext cx="260604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98951" y="1581912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2.4M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8951" y="2075688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Water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8951" y="2468880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Irrigation advisory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417320"/>
            <a:ext cx="2606040" cy="1600200"/>
          </a:xfrm>
          <a:prstGeom prst="rect">
            <a:avLst/>
          </a:prstGeom>
          <a:solidFill>
            <a:srgbClr val="0A4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6159" y="1581912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-18%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75688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Carbon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6159" y="2468880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vs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3639" y="1417320"/>
            <a:ext cx="2606040" cy="1600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3367" y="1581912"/>
            <a:ext cx="23865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3367" y="2075688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Market Linkage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3367" y="2468880"/>
            <a:ext cx="23865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Sell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t>CEO Dashboard KPIs — Live weather &amp; market tickers  •  Real-time streaming AI  •  15+ Indian 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1325880"/>
          </a:xfrm>
          <a:prstGeom prst="rect">
            <a:avLst/>
          </a:prstGeom>
          <a:solidFill>
            <a:srgbClr val="CCF0E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499616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CEO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865376"/>
            <a:ext cx="3264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t>KPIs, live weather &amp; market tickers, Quick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520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4256" y="1499616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1865376"/>
            <a:ext cx="3264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t>Groq-powered chat, 15+ languages, voice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371600"/>
            <a:ext cx="3520440" cy="1325880"/>
          </a:xfrm>
          <a:prstGeom prst="rect">
            <a:avLst/>
          </a:prstGeom>
          <a:solidFill>
            <a:srgbClr val="CCF0E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1499616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Agentic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1865376"/>
            <a:ext cx="3264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t>Multi-step reasoning, tool context injection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0"/>
            <a:ext cx="3520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0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Structured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0"/>
            <a:ext cx="32644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rPr lang="en-US" dirty="0"/>
              <a:t>                                                </a:t>
            </a:r>
          </a:p>
          <a:p>
            <a:pPr>
              <a:defRPr sz="1000">
                <a:solidFill>
                  <a:srgbClr val="4756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669"/>
                </a:solidFill>
              </a:defRPr>
            </a:pPr>
            <a:r>
              <a:rPr dirty="0"/>
              <a:t>Steps, crop cards, comparison tables,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0"/>
            <a:ext cx="3520440" cy="1325880"/>
          </a:xfrm>
          <a:prstGeom prst="rect">
            <a:avLst/>
          </a:prstGeom>
          <a:solidFill>
            <a:srgbClr val="CCF0E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0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User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0"/>
            <a:ext cx="32644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rPr lang="en-US" dirty="0"/>
              <a:t>                                 </a:t>
            </a:r>
          </a:p>
          <a:p>
            <a:pPr>
              <a:defRPr sz="1000">
                <a:solidFill>
                  <a:srgbClr val="4756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669"/>
                </a:solidFill>
              </a:defRPr>
            </a:pPr>
            <a:r>
              <a:rPr dirty="0"/>
              <a:t>Copy, Add to plan, Set reminder,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0"/>
            <a:ext cx="3520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7576" y="0"/>
            <a:ext cx="3264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0"/>
            <a:ext cx="32644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rPr lang="en-US" dirty="0"/>
              <a:t>                                 </a:t>
            </a:r>
          </a:p>
          <a:p>
            <a:pPr>
              <a:defRPr sz="1000">
                <a:solidFill>
                  <a:srgbClr val="4756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669"/>
                </a:solidFill>
              </a:defRPr>
            </a:pPr>
            <a:r>
              <a:rPr dirty="0"/>
              <a:t>Streaming responses, rotating tickers, last-updated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&amp; Agentic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7559" y="1353312"/>
            <a:ext cx="36576" cy="4937760"/>
          </a:xfrm>
          <a:prstGeom prst="rect">
            <a:avLst/>
          </a:prstGeom>
          <a:solidFill>
            <a:srgbClr val="CC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01487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AI &amp; Tools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Conversational AI (Groq/Llama 3.3 70B)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15+ Indian languages; Voice input (Web Speech API)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Weather tool — region-wise weather, soil moisture, forecast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Market tool — mandi-wise prices, trend, MSP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1567" y="1417320"/>
            <a:ext cx="5501487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Structured Outputs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Structured outputs: STEP 1/2/3 +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CROPS_JSON — recommended crops (name, season, reason)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COMPARISON_JSON — crop comparison table</a:t>
            </a:r>
          </a:p>
          <a:p>
            <a:pPr>
              <a:spcAft>
                <a:spcPts val="400"/>
              </a:spcAft>
              <a:defRPr sz="1200">
                <a:solidFill>
                  <a:srgbClr val="0F1723"/>
                </a:solidFill>
              </a:defRPr>
            </a:pPr>
            <a:r>
              <a:t>• SENTIMENT &amp; CONFIDENCE badges; Follow-up suggestion chips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207" y="1965960"/>
            <a:ext cx="4023360" cy="868680"/>
          </a:xfrm>
          <a:prstGeom prst="rect">
            <a:avLst/>
          </a:prstGeom>
          <a:solidFill>
            <a:srgbClr val="CCF0E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3223" y="2167128"/>
            <a:ext cx="3767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5C2E"/>
                </a:solidFill>
              </a:defRPr>
            </a:pPr>
            <a:r>
              <a:t>Browser (React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223" y="2441448"/>
            <a:ext cx="3767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669"/>
                </a:solidFill>
              </a:defRPr>
            </a:pPr>
            <a:r>
              <a:t>Vite  •  React 18  •  Tailwind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4367" y="2258568"/>
            <a:ext cx="10515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30087" y="203911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669"/>
                </a:solidFill>
              </a:defRPr>
            </a:pPr>
            <a:r>
              <a:t>HTTPS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4527" y="1965960"/>
            <a:ext cx="4023360" cy="868680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92543" y="2167128"/>
            <a:ext cx="3767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Groq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2543" y="2441448"/>
            <a:ext cx="3767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E6B3"/>
                </a:solidFill>
              </a:defRPr>
            </a:pPr>
            <a:r>
              <a:t>Llama 3.3 70B Versatile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111858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t>Hooks: useGroqChat (streaming), useTickerData, useDashboardInsights, useMyPlan  •  Agent tools: getToolContext (Weather, Market + MSP), buildUserMessageWithTools  •  Parsing: parseAgentSteps, parseCropsJson, parseComparisonJson  •  Data: agentTools.js (weather/market/MSP); localStorage (My plan, reminders, alerts)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&amp;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Hero with value prop; badges: languages, tools, voice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Live tickers — Weather &amp; Market (Indian regions/mandis); rotation every 5s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4 KPI cards; Quick actions (Get weather, Check prices, Plan sowing, Price alert)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My plan &amp; Alerts (localStorage); AI insights (3 from Groq, 5 min cache)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Features section; Chat panel — Streaming, language selector, voice, quick prompts, follow-up chips; Copy, Add to plan, Set reminder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 &amp;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Improve farm-level decisions; Reduce resource waste; Enhance market linkage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User can take realistic actions (Add to plan, set reminder, copy, add alert); persisted in browser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Enterprise readiness; Real-time value (live dashboards, sub-minute AI, streaming)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Non-Functional Requirements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Performance — First contentful paint &lt; 2s; AI response &lt; 5s (Groq)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Security — VITE_GROQ_API_KEY in .env; production should proxy via backend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Accessibility — WCAG 2.1 AA; keyboard navigation; aria-labels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Scalability — Stateless frontend; API-ready for future backend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Inclusive design — 15+ Indian languages; voice input; low bandwidth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User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3492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5020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CEO / Agri-Business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11680"/>
            <a:ext cx="5020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t>KPIs, sustainability reports, portfolio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53492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1572768"/>
            <a:ext cx="5020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Field Officer / Extension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011680"/>
            <a:ext cx="5020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t>Crop advisory, weather, pest alerts; share/save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0"/>
            <a:ext cx="53492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0"/>
            <a:ext cx="5020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Farmer / Cooperative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0"/>
            <a:ext cx="5020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t>What to grow, when to irrigate, where to sell; save advice and set reminders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53492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5020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5C2E"/>
                </a:solidFill>
              </a:defRPr>
            </a:pPr>
            <a:r>
              <a:t>Policy / 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0"/>
            <a:ext cx="50200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669"/>
                </a:solidFill>
              </a:defRPr>
            </a:pPr>
            <a:r>
              <a:rPr lang="en-US" dirty="0"/>
              <a:t>                             </a:t>
            </a:r>
          </a:p>
          <a:p>
            <a:pPr>
              <a:defRPr sz="1100">
                <a:solidFill>
                  <a:srgbClr val="475669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475669"/>
                </a:solidFill>
              </a:defRPr>
            </a:pPr>
            <a:r>
              <a:rPr lang="en-US" dirty="0"/>
              <a:t>I</a:t>
            </a:r>
            <a:r>
              <a:rPr dirty="0"/>
              <a:t>mpact metrics, regional trends, resource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Acceptance Criteria (All 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CEO-grade dashboard with KPIs, tickers, Quick actions, My plan, Alerts, AI insights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Chat in 15+ Indian languages; Weather &amp; Market (with MSP) tools; badges shown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Multi-step tasks with clear steps and recommendation; Copy, Add to plan, Set reminder; data persisted</a:t>
            </a:r>
          </a:p>
          <a:p>
            <a:pPr>
              <a:spcAft>
                <a:spcPts val="500"/>
              </a:spcAft>
              <a:defRPr sz="1300">
                <a:solidFill>
                  <a:srgbClr val="0F1723"/>
                </a:solidFill>
              </a:defRPr>
            </a:pPr>
            <a:r>
              <a:t>Add/remove alerts; Quick actions open chat and send prompt; follow-up chips; real-time tickers; enterprise-ready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669"/>
                </a:solidFill>
              </a:defRPr>
            </a:pPr>
            <a:r>
              <a:t>AgriNexus AI  •  Intelligence for Rural &amp; Sustainable Systems  •  AWS AI for Bharat Hackathon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800"/>
              </a:spcBef>
              <a:defRPr sz="2600">
                <a:solidFill>
                  <a:srgbClr val="F5E6B3"/>
                </a:solidFill>
              </a:defRPr>
            </a:pPr>
            <a:r>
              <a:t>Code Alchemists</a:t>
            </a:r>
          </a:p>
          <a:p>
            <a:pPr algn="ctr"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Mayank Kumar  •  Sneha Dalvi</a:t>
            </a:r>
          </a:p>
          <a:p>
            <a:pPr algn="ctr">
              <a:spcBef>
                <a:spcPts val="2000"/>
              </a:spcBef>
              <a:defRPr sz="1400">
                <a:solidFill>
                  <a:srgbClr val="E2E8F0"/>
                </a:solidFill>
              </a:defRPr>
            </a:pPr>
            <a:r>
              <a:t>AgriNexus AI — Intelligence for Rural &amp; Sustainable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53328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4724"/>
                </a:solidFill>
              </a:defRPr>
            </a:pPr>
            <a:r>
              <a:t>AWS AI for Bharat Hackathon  •  Track: AI for Rural Innovation &amp; Sustainable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1045</Words>
  <Application>Microsoft Office PowerPoint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Kumar, Mayank</cp:lastModifiedBy>
  <cp:revision>2</cp:revision>
  <dcterms:created xsi:type="dcterms:W3CDTF">2013-01-27T09:14:16Z</dcterms:created>
  <dcterms:modified xsi:type="dcterms:W3CDTF">2026-01-31T15:08:22Z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2026-01-31T15:07:43Z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ed065938-14a2-482c-88f6-22152415f9cf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